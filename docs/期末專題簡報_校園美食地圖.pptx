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校園附近美食地圖</a:t>
            </a:r>
          </a:p>
          <a:p>
            <a:pPr algn="ctr">
              <a:defRPr sz="2200">
                <a:solidFill>
                  <a:srgbClr val="E86C00"/>
                </a:solidFill>
              </a:defRPr>
            </a:pPr>
            <a:r>
              <a:t>國立宜蘭大學 · Python 程式期末專題</a:t>
            </a:r>
          </a:p>
          <a:p>
            <a:pPr algn="ctr">
              <a:defRPr sz="1400">
                <a:solidFill>
                  <a:srgbClr val="AABBCC"/>
                </a:solidFill>
              </a:defRPr>
            </a:pPr>
            <a:r>
              <a:t>作者：Boson Huang  |  雲端 Demo：https://niu-foodmap.streamlit.app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簡報大綱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(1) 動機 — 問題與任務描述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(2) 目標 — 欲達成之目標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(3) 軟硬體工具與執行平台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(4) 組員分工事項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(5) 架構設計與實作過程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(6) 遇到的困難與解決方式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(1) 動機</a:t>
            </a:r>
          </a:p>
          <a:p>
            <a:pPr>
              <a:defRPr sz="1400">
                <a:solidFill>
                  <a:srgbClr val="CCDDEE"/>
                </a:solidFill>
              </a:defRPr>
            </a:pPr>
            <a:r>
              <a:t>問題或任務描述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【現況痛點】宜大學生在校外覓食時，難以在「步行／單車可達」範圍內，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　依網路評價（星等＋評論量）快速排序、篩選餐廳。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【具體問題】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Google Maps 預設排序 ≠ 距離 + 評價綜合考量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評論極少卻五星的店家容易誤導（需貝氏／加權修正）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遠距高分店 vs 近距普通店 — 難以一次比較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選擇困難：不知道「今天吃什麼」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【任務】開發「宜大校本部周邊美食地圖」系統，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　整合距離計算、多種評分算法、互動地圖與轉盤選店功能。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(2) 目標</a:t>
            </a:r>
          </a:p>
          <a:p>
            <a:pPr>
              <a:defRPr sz="1400">
                <a:solidFill>
                  <a:srgbClr val="CCDDEE"/>
                </a:solidFill>
              </a:defRPr>
            </a:pPr>
            <a:r>
              <a:t>欲達成之目標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【功能目標】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FR-1：依校園中心座標 + 半徑（km）篩選周邊餐廳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FR-2：四種排序 — 綜合分／貝氏星等／黃氏星等／距離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FR-3：CLI 輸出 table／json，含 Google Maps 連結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FR-4：Streamlit 雙分頁 — 美食地圖 + 轉盤選擇器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FR-5：支援自訂 JSON 資料（Mock 或 Google Places 快取）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FR-v2：預設 1 km、300 家；十五類美食分類 + 平價／avg_spend_ntd 篩選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FR-v2：營業狀態顯示；轉盤排除休息中（國定假日 specialDays 支援）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【品質目標】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109 項 pytest 全綠，coverage ≥ 84%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查詢時不打 API — 離線快取，p95 延遲 ≤ 120ms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部署至 Streamlit Cloud，供系上／同學即時使用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(3) 軟硬體工具與執行平台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類別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工具／平台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語言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Python 3.10+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核心邏輯、CLI、測試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Web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Streamlit 1.28+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互動式網頁介面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地圖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PyDeck + Carto Voyager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點位地圖視覺化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資料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表格展示與篩選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資料來源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Google Places API (New)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一次性抓取 → JSON 快取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pytest + pytest-cov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109 tests，CI gate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GitHub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自動測試 + benchmark gate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Streamlit Community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https://niu-foodmap.streamlit.app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版本控制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Git + GitHub (boson316/niu-foodmap)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協作與自動部署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硬體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Windows PC / 一般筆電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本機開發與 demo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瀏覽器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Chrome / Edge / 手機瀏覽器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雲端 app 存取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(4) 組員分工事項</a:t>
            </a:r>
          </a:p>
          <a:p>
            <a:pPr>
              <a:defRPr sz="1400">
                <a:solidFill>
                  <a:srgbClr val="CCDDEE"/>
                </a:solidFill>
              </a:defRPr>
            </a:pPr>
            <a:r>
              <a:t>※ 若為小組作業，請依實際組員修改姓名欄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成員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負責模組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主要工作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Boson Huang（主開發）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scoring.py / service.py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黃氏星等、貝氏星等、綜合分算法；排序服務層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【組員 A】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providers.py / scripts/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Google Places 格網抓取、JSON 快取管線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【組員 B】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Streamlit UI、地圖互動、側欄篩選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【組員 C】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wheel.py / visit_counter.py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轉盤 SVG、瀏覽人次計數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全員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tests/ +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TDD 測試撰寫、GitHub Actions 維護、文件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※ 本 repo 主要作者為 Boson Huang；若為個人專題，以上分工可合併為單人全棧開發。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(5) 架構設計</a:t>
            </a:r>
          </a:p>
          <a:p>
            <a:pPr>
              <a:defRPr sz="1400">
                <a:solidFill>
                  <a:srgbClr val="CCDDEE"/>
                </a:solidFill>
              </a:defRPr>
            </a:pPr>
            <a:r>
              <a:t>系統分層與資料流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solidFill>
            <a:srgbClr val="2D2D2D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>
                <a:solidFill>
                  <a:srgbClr val="E8E8E8"/>
                </a:solidFill>
                <a:latin typeface="Consolas"/>
              </a:defRPr>
            </a:pPr>
            <a:r>
              <a:t>[Google Places API] ──fetch 一次──► data/places_cache.json</a:t>
            </a:r>
            <a:br/>
            <a:r>
              <a:t>[places_cache.public.json] ──雲端 300 家──┤</a:t>
            </a:r>
            <a:br/>
            <a:r>
              <a:t>[sample_restaurants.json] ──Mock───┤</a:t>
            </a:r>
            <a:br/>
            <a:r>
              <a:t>                                    ▼</a:t>
            </a:r>
            <a:br/>
            <a:r>
              <a:t>                         MockRestaurantProvider</a:t>
            </a:r>
            <a:br/>
            <a:r>
              <a:t>                                    ▼</a:t>
            </a:r>
            <a:br/>
            <a:r>
              <a:t>                         FoodMapService.rank_nearby()</a:t>
            </a:r>
            <a:br/>
            <a:r>
              <a:t>                         (bbox → haversine → heapq top-k)</a:t>
            </a:r>
            <a:br/>
            <a:r>
              <a:t>                                    ▼</a:t>
            </a:r>
            <a:br/>
            <a:r>
              <a:t>              ┌─────────────────────┴─────────────────────┐</a:t>
            </a:r>
            <a:br/>
            <a:r>
              <a:t>              ▼                                           ▼</a:t>
            </a:r>
            <a:br/>
            <a:r>
              <a:t>       CLI (table/json)                    Streamlit（雙分頁）</a:t>
            </a:r>
            <a:br/>
            <a:r>
              <a:t>                                           ├─ 🗺️ 美食地圖</a:t>
            </a:r>
            <a:br/>
            <a:r>
              <a:t>                                           └─ 🎡 轉盤選擇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(5) 核心算法</a:t>
            </a:r>
          </a:p>
          <a:p>
            <a:pPr>
              <a:defRPr sz="1400">
                <a:solidFill>
                  <a:srgbClr val="CCDDEE"/>
                </a:solidFill>
              </a:defRPr>
            </a:pPr>
            <a:r>
              <a:t>黃氏星等 + 綜合分數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0" cy="4389120"/>
          </a:xfrm>
          <a:prstGeom prst="rect">
            <a:avLst/>
          </a:prstGeom>
          <a:solidFill>
            <a:srgbClr val="2D2D2D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>
                <a:solidFill>
                  <a:srgbClr val="E8E8E8"/>
                </a:solidFill>
                <a:latin typeface="Consolas"/>
              </a:defRPr>
            </a:pPr>
            <a:r>
              <a:t># 黃氏星等（scoring.py）</a:t>
            </a:r>
            <a:br/>
            <a:r>
              <a:t>huang = rating × 分級係數 × (0.5 + 0.5×rating/5)</a:t>
            </a:r>
            <a:br/>
            <a:r>
              <a:t>                  × (0.4 + 0.6×log1p(評論數)/log1p(500))</a:t>
            </a:r>
            <a:br/>
            <a:r>
              <a:t># 分級：1~2星×0.65 | 3星×1.0 | 4~5星×1.25</a:t>
            </a:r>
            <a:br/>
            <a:br/>
            <a:r>
              <a:t># 綜合分數（預設排序 &amp; 轉盤候選池 Top 30）</a:t>
            </a:r>
            <a:br/>
            <a:r>
              <a:t>composite = huang_rating × exp(-distance_km / decay_km)</a:t>
            </a:r>
            <a:br/>
            <a:r>
              <a:t># decay_km 預設 0.6 → 距離愈近分數愈高</a:t>
            </a:r>
            <a:br/>
            <a:br/>
            <a:r>
              <a:t># 貝氏星等（抑制少評論極端值）</a:t>
            </a:r>
            <a:br/>
            <a:r>
              <a:t>bayes = (prior×prior_mean + rating×count) / (prior + count)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轉盤：綜合分 Top 30 等機率抽選  |  地圖：PyDeck 點狀標記 + zoom 15/16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(5) 實作過程與方法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Step 1 — 需求分析：PRD 定義 FR-1~5、宜大校本部座標 (24.7464, 121.7457)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Step 2 — TDD 開發：先寫 tests/，再實作 scoring → distance → service → CLI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Step 3 — 資料管線：Google Places 格網抓取 300 家 → enrich 十五類 → JSON 離線快取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Step 4 — Streamlit UI：側欄分組分類 + 預算篩選 + 地圖互動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Step 5 — 轉盤：營業中 Top 30 + SVG 扇形盤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Step 6 — 品質保證：109 tests、integrity SHA256、overlay 人工校正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Step 7 — 雲端部署：push → Streamlit Cloud 自動 redeploy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(5) Streamlit 功能一覽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分頁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技術細節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🗺️ 美食地圖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餐廳清單 + 互動地圖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預設 1 km／300 家；營業狀態欄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美食分類（分組）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十五類 multiselect + 其他勾選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預算篩選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price_level 1 或 avg_spend_ntd ≤ 上限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綜合分數說明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公式 + 實例（Muze／炸醬麵）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🎡 轉盤選擇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隨機選店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綜合分 Top 30 等機率抽選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SVG 扇形轉盤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指針 = 結果 # 一致；多次旋轉不偏移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頁尾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作者 + 瀏覽人次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counterapi.dev 瀏覽器端計數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(5) 程式碼節錄</a:t>
            </a:r>
          </a:p>
          <a:p>
            <a:pPr>
              <a:defRPr sz="1400">
                <a:solidFill>
                  <a:srgbClr val="CCDDEE"/>
                </a:solidFill>
              </a:defRPr>
            </a:pPr>
            <a:r>
              <a:t>service.py — 效能路徑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0" cy="4754880"/>
          </a:xfrm>
          <a:prstGeom prst="rect">
            <a:avLst/>
          </a:prstGeom>
          <a:solidFill>
            <a:srgbClr val="2D2D2D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>
                <a:solidFill>
                  <a:srgbClr val="E8E8E8"/>
                </a:solidFill>
                <a:latin typeface="Consolas"/>
              </a:defRPr>
            </a:pPr>
            <a:r>
              <a:t># FoodMapService.rank_nearby() 核心流程</a:t>
            </a:r>
            <a:br/>
            <a:r>
              <a:t>1. bbox 粗篩（approx_in_radius_bbox）</a:t>
            </a:r>
            <a:br/>
            <a:r>
              <a:t>2. haversine 精算距離（distance.py）</a:t>
            </a:r>
            <a:br/>
            <a:r>
              <a:t>3. 計算 bayesian / huang / composite 分數</a:t>
            </a:r>
            <a:br/>
            <a:r>
              <a:t>4. heapq 取 top-k（O(n log k)，非全排序）</a:t>
            </a:r>
            <a:br/>
            <a:br/>
            <a:r>
              <a:t>def build_maps_url(name, lat, lon, place_id=None):</a:t>
            </a:r>
            <a:br/>
            <a:r>
              <a:t>    if place_id:</a:t>
            </a:r>
            <a:br/>
            <a:r>
              <a:t>        return f'...query={name}&amp;query_place_id={pid}'</a:t>
            </a:r>
            <a:br/>
            <a:r>
              <a:t>    return f'...query={name}@{lat},{lon}'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(6) 遇到的困難與解決方式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困難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解決方式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轉盤指針 ≠ 結果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CSS conic-gradient 與標籤層偏移 ~7 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改 SVG 扇形 + spin_delta_degrees 增量旋轉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LinkColumn 顯示「店名文字」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Streamlit 1.55 中文 display_text 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店名 TextColumn + 點列選店連動地圖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雲端瀏覽人次破圖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SeeYouFarm 404；伺服器端 urllib 被擋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改瀏覽器端 counterapi.dev + sessionStorage 防灌票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CI coverage 68% 紅燈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streamlit_app.py 計入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.coveragerc omit UI 層；核心 ≥70%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Cloud Python 3.14 怪錯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dataclass import 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.python-version 釘 3.10.12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integrity hash 失敗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Windows CRLF vs Linux 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LF 正規化 + 更新 SHA256 hash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Mock 資料與真實落差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15 筆範例不足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Google Places 格網抓取 ~100 家快取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【雲端 Demo】https://niu-foodmap.streamlit.app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【GitHub】https://github.com/boson316/niu-foodmap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【本機執行】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cd 校園美食地圖_v2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pip install -r requirements.txt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$env:PYTHONPATH = "src"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streamlit run src/streamlit_app.py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【測試】pytest -q --cov=src --cov-fail-under=70  →  109 passed, ~84% coverage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【成果】宜大 1 km 內 300 家 · 十五類 · 平價篩選 · 轉盤 · CI 全綠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 &amp; A</a:t>
            </a:r>
          </a:p>
          <a:p>
            <a:pPr algn="ctr">
              <a:defRPr sz="2400">
                <a:solidFill>
                  <a:srgbClr val="E86C00"/>
                </a:solidFill>
              </a:defRPr>
            </a:pPr>
            <a:r>
              <a:t>謝謝聆聽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